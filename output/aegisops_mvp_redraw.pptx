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91440"/>
            <a:ext cx="7132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0F172A"/>
                </a:solidFill>
                <a:latin typeface="Microsoft JhengHei"/>
              </a:rPr>
              <a:t>AegisOps 最小可實作架構 (MVP) &amp; 分期實施計畫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384048"/>
            <a:ext cx="53035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475569"/>
                </a:solidFill>
                <a:latin typeface="Microsoft JhengHei"/>
              </a:rPr>
              <a:t>企業級 AgentOps 架構藍圖（完全可編輯重繪版）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321040" y="109728"/>
            <a:ext cx="3657600" cy="384048"/>
          </a:xfrm>
          <a:prstGeom prst="roundRect">
            <a:avLst/>
          </a:prstGeom>
          <a:solidFill>
            <a:srgbClr val="E3F2FD"/>
          </a:solidFill>
          <a:ln w="12700">
            <a:solidFill>
              <a:srgbClr val="1E88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864" b="1"/>
              <a:t>目標：先可觀測，再可評估，最後可治理與自動化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74320" y="685800"/>
            <a:ext cx="2880360" cy="15087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84048" y="749808"/>
            <a:ext cx="26517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1E293B"/>
                </a:solidFill>
                <a:latin typeface="Microsoft JhengHei"/>
              </a:rPr>
              <a:t>Agent Runtime (執行層)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960120"/>
            <a:ext cx="26060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1E293B"/>
                </a:solidFill>
                <a:latin typeface="Microsoft JhengHei"/>
              </a:rPr>
              <a:t>• LangGraph</a:t>
            </a:r>
            <a:br/>
            <a:r>
              <a:t>• OpenAI Agents SDK</a:t>
            </a:r>
            <a:br/>
            <a:r>
              <a:t>• Dify / 其他 Agent 框架</a:t>
            </a:r>
            <a:br/>
            <a:r>
              <a:t>• MCP / Tool / API</a:t>
            </a:r>
            <a:br/>
            <a:br/>
            <a:r>
              <a:t>外部系統 / 資料源</a:t>
            </a:r>
            <a:br/>
            <a:r>
              <a:t>• 企業資料庫</a:t>
            </a:r>
            <a:br/>
            <a:r>
              <a:t>• 向量資料庫</a:t>
            </a:r>
            <a:br/>
            <a:r>
              <a:t>• 外部 API / 服務</a:t>
            </a:r>
            <a:br/>
            <a:r>
              <a:t>• 檔案 / 文件 / Web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383280" y="685800"/>
            <a:ext cx="5349240" cy="53035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493008" y="749808"/>
            <a:ext cx="11887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1E293B"/>
                </a:solidFill>
                <a:latin typeface="Microsoft JhengHei"/>
              </a:rPr>
              <a:t>使用者 / 存取入口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800600" y="832104"/>
            <a:ext cx="704088" cy="256032"/>
          </a:xfrm>
          <a:prstGeom prst="roundRect">
            <a:avLst/>
          </a:prstGeom>
          <a:solidFill>
            <a:srgbClr val="E3F2FD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720"/>
              <a:t>Web Portal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568696" y="832104"/>
            <a:ext cx="704088" cy="256032"/>
          </a:xfrm>
          <a:prstGeom prst="roundRect">
            <a:avLst/>
          </a:prstGeom>
          <a:solidFill>
            <a:srgbClr val="E3F2FD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720"/>
              <a:t>內部人員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336792" y="832104"/>
            <a:ext cx="704088" cy="256032"/>
          </a:xfrm>
          <a:prstGeom prst="roundRect">
            <a:avLst/>
          </a:prstGeom>
          <a:solidFill>
            <a:srgbClr val="E3F2FD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720"/>
              <a:t>開發人員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104888" y="832104"/>
            <a:ext cx="704088" cy="256032"/>
          </a:xfrm>
          <a:prstGeom prst="roundRect">
            <a:avLst/>
          </a:prstGeom>
          <a:solidFill>
            <a:srgbClr val="E3F2FD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720"/>
              <a:t>營運 / 維運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872983" y="832104"/>
            <a:ext cx="704088" cy="256032"/>
          </a:xfrm>
          <a:prstGeom prst="roundRect">
            <a:avLst/>
          </a:prstGeom>
          <a:solidFill>
            <a:srgbClr val="E3F2FD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720"/>
              <a:t>管理者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383280" y="1280160"/>
            <a:ext cx="5349240" cy="29718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E88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b="1" sz="864"/>
              <a:t>AegisOps 最小可實作架構 (MVP)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547872" y="1664208"/>
            <a:ext cx="2514600" cy="850392"/>
          </a:xfrm>
          <a:prstGeom prst="roundRect">
            <a:avLst/>
          </a:prstGeom>
          <a:solidFill>
            <a:srgbClr val="E3F2FD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100" b="1">
                <a:solidFill>
                  <a:srgbClr val="0F172A"/>
                </a:solidFill>
                <a:latin typeface="Microsoft JhengHei"/>
              </a:rPr>
              <a:t>1. 核心控制層 (Control Plane)</a:t>
            </a:r>
          </a:p>
          <a:p>
            <a:pPr algn="l"/>
            <a:r>
              <a:rPr sz="900">
                <a:solidFill>
                  <a:srgbClr val="1E293B"/>
                </a:solidFill>
                <a:latin typeface="Microsoft JhengHei"/>
              </a:rPr>
              <a:t>• Agent Registry</a:t>
            </a:r>
          </a:p>
          <a:p>
            <a:pPr algn="l"/>
            <a:r>
              <a:rPr sz="900">
                <a:solidFill>
                  <a:srgbClr val="1E293B"/>
                </a:solidFill>
                <a:latin typeface="Microsoft JhengHei"/>
              </a:rPr>
              <a:t>• Prompt Registry</a:t>
            </a:r>
          </a:p>
          <a:p>
            <a:pPr algn="l"/>
            <a:r>
              <a:rPr sz="900">
                <a:solidFill>
                  <a:srgbClr val="1E293B"/>
                </a:solidFill>
                <a:latin typeface="Microsoft JhengHei"/>
              </a:rPr>
              <a:t>• Model Registry</a:t>
            </a:r>
          </a:p>
          <a:p>
            <a:pPr algn="l"/>
            <a:r>
              <a:rPr sz="900">
                <a:solidFill>
                  <a:srgbClr val="1E293B"/>
                </a:solidFill>
                <a:latin typeface="Microsoft JhengHei"/>
              </a:rPr>
              <a:t>• Tool / MCP Registry</a:t>
            </a:r>
          </a:p>
          <a:p>
            <a:pPr algn="l"/>
            <a:r>
              <a:rPr sz="900">
                <a:solidFill>
                  <a:srgbClr val="1E293B"/>
                </a:solidFill>
                <a:latin typeface="Microsoft JhengHei"/>
              </a:rPr>
              <a:t>• Policy &amp; Guardrails</a:t>
            </a:r>
          </a:p>
          <a:p>
            <a:pPr algn="l"/>
            <a:r>
              <a:rPr sz="900">
                <a:solidFill>
                  <a:srgbClr val="1E293B"/>
                </a:solidFill>
                <a:latin typeface="Microsoft JhengHei"/>
              </a:rPr>
              <a:t>• RBAC / IAM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45352" y="1664208"/>
            <a:ext cx="2514600" cy="85039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100" b="1">
                <a:solidFill>
                  <a:srgbClr val="0F172A"/>
                </a:solidFill>
                <a:latin typeface="Microsoft JhengHei"/>
              </a:rPr>
              <a:t>2. 觀測與成本 (Observability &amp; Cost)</a:t>
            </a:r>
          </a:p>
          <a:p>
            <a:pPr algn="l"/>
            <a:r>
              <a:rPr sz="900">
                <a:solidFill>
                  <a:srgbClr val="1E293B"/>
                </a:solidFill>
                <a:latin typeface="Microsoft JhengHei"/>
              </a:rPr>
              <a:t>• Trace Collector (OpenTelemetry)</a:t>
            </a:r>
          </a:p>
          <a:p>
            <a:pPr algn="l"/>
            <a:r>
              <a:rPr sz="900">
                <a:solidFill>
                  <a:srgbClr val="1E293B"/>
                </a:solidFill>
                <a:latin typeface="Microsoft JhengHei"/>
              </a:rPr>
              <a:t>• Token / Trace Store (Traces / Spans)</a:t>
            </a:r>
          </a:p>
          <a:p>
            <a:pPr algn="l"/>
            <a:r>
              <a:rPr sz="900">
                <a:solidFill>
                  <a:srgbClr val="1E293B"/>
                </a:solidFill>
                <a:latin typeface="Microsoft JhengHei"/>
              </a:rPr>
              <a:t>• Metrics Store (Metrics)</a:t>
            </a:r>
          </a:p>
          <a:p>
            <a:pPr algn="l"/>
            <a:r>
              <a:rPr sz="900">
                <a:solidFill>
                  <a:srgbClr val="1E293B"/>
                </a:solidFill>
                <a:latin typeface="Microsoft JhengHei"/>
              </a:rPr>
              <a:t>• Cost Tracker (Token &amp; $)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547872" y="2587752"/>
            <a:ext cx="2514600" cy="850392"/>
          </a:xfrm>
          <a:prstGeom prst="roundRect">
            <a:avLst/>
          </a:prstGeom>
          <a:solidFill>
            <a:srgbClr val="E3F2FD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100" b="1">
                <a:solidFill>
                  <a:srgbClr val="0F172A"/>
                </a:solidFill>
                <a:latin typeface="Microsoft JhengHei"/>
              </a:rPr>
              <a:t>3. 評估與品質 (Evaluation &amp; Quality)</a:t>
            </a:r>
          </a:p>
          <a:p>
            <a:pPr algn="l"/>
            <a:r>
              <a:rPr sz="900">
                <a:solidFill>
                  <a:srgbClr val="1E293B"/>
                </a:solidFill>
                <a:latin typeface="Microsoft JhengHei"/>
              </a:rPr>
              <a:t>• Evaluation Engine (LLM Judge / Rule)</a:t>
            </a:r>
          </a:p>
          <a:p>
            <a:pPr algn="l"/>
            <a:r>
              <a:rPr sz="900">
                <a:solidFill>
                  <a:srgbClr val="1E293B"/>
                </a:solidFill>
                <a:latin typeface="Microsoft JhengHei"/>
              </a:rPr>
              <a:t>• Quality Dashboard (品質指標)</a:t>
            </a:r>
          </a:p>
          <a:p>
            <a:pPr algn="l"/>
            <a:r>
              <a:rPr sz="900">
                <a:solidFill>
                  <a:srgbClr val="1E293B"/>
                </a:solidFill>
                <a:latin typeface="Microsoft JhengHei"/>
              </a:rPr>
              <a:t>• Dataset Store (Eval Dataset)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45352" y="2587752"/>
            <a:ext cx="2514600" cy="85039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100" b="1">
                <a:solidFill>
                  <a:srgbClr val="0F172A"/>
                </a:solidFill>
                <a:latin typeface="Microsoft JhengHei"/>
              </a:rPr>
              <a:t>4. 事件・回饋與風險 (Incident / Feedback / Risk)</a:t>
            </a:r>
          </a:p>
          <a:p>
            <a:pPr algn="l"/>
            <a:r>
              <a:rPr sz="900">
                <a:solidFill>
                  <a:srgbClr val="1E293B"/>
                </a:solidFill>
                <a:latin typeface="Microsoft JhengHei"/>
              </a:rPr>
              <a:t>• Incident Center (事件管理)</a:t>
            </a:r>
          </a:p>
          <a:p>
            <a:pPr algn="l"/>
            <a:r>
              <a:rPr sz="900">
                <a:solidFill>
                  <a:srgbClr val="1E293B"/>
                </a:solidFill>
                <a:latin typeface="Microsoft JhengHei"/>
              </a:rPr>
              <a:t>• Feedback Collector (使用者回饋)</a:t>
            </a:r>
          </a:p>
          <a:p>
            <a:pPr algn="l"/>
            <a:r>
              <a:rPr sz="900">
                <a:solidFill>
                  <a:srgbClr val="1E293B"/>
                </a:solidFill>
                <a:latin typeface="Microsoft JhengHei"/>
              </a:rPr>
              <a:t>• Risk Detector (風險檢測)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547872" y="3511296"/>
            <a:ext cx="2514600" cy="850392"/>
          </a:xfrm>
          <a:prstGeom prst="roundRect">
            <a:avLst/>
          </a:prstGeom>
          <a:solidFill>
            <a:srgbClr val="E3F2FD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100" b="1">
                <a:solidFill>
                  <a:srgbClr val="0F172A"/>
                </a:solidFill>
                <a:latin typeface="Microsoft JhengHei"/>
              </a:rPr>
              <a:t>5. 資料儲存層</a:t>
            </a:r>
          </a:p>
          <a:p>
            <a:pPr algn="l"/>
            <a:r>
              <a:rPr sz="900">
                <a:solidFill>
                  <a:srgbClr val="1E293B"/>
                </a:solidFill>
                <a:latin typeface="Microsoft JhengHei"/>
              </a:rPr>
              <a:t>• PostgreSQL (Meta / 統計資料)</a:t>
            </a:r>
          </a:p>
          <a:p>
            <a:pPr algn="l"/>
            <a:r>
              <a:rPr sz="900">
                <a:solidFill>
                  <a:srgbClr val="1E293B"/>
                </a:solidFill>
                <a:latin typeface="Microsoft JhengHei"/>
              </a:rPr>
              <a:t>• S3 / Blob Storage (檔案 / Prompt / Dataset / Log)</a:t>
            </a:r>
          </a:p>
          <a:p>
            <a:pPr algn="l"/>
            <a:r>
              <a:rPr sz="900">
                <a:solidFill>
                  <a:srgbClr val="1E293B"/>
                </a:solidFill>
                <a:latin typeface="Microsoft JhengHei"/>
              </a:rPr>
              <a:t>• Vector DB (向量 / 知識庫)</a:t>
            </a:r>
          </a:p>
          <a:p>
            <a:pPr algn="l"/>
            <a:r>
              <a:rPr sz="900">
                <a:solidFill>
                  <a:srgbClr val="1E293B"/>
                </a:solidFill>
                <a:latin typeface="Microsoft JhengHei"/>
              </a:rPr>
              <a:t>• Cache (Redis)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245352" y="3511296"/>
            <a:ext cx="2514600" cy="85039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100" b="1">
                <a:solidFill>
                  <a:srgbClr val="0F172A"/>
                </a:solidFill>
                <a:latin typeface="Microsoft JhengHei"/>
              </a:rPr>
              <a:t>6. 整合與交付層</a:t>
            </a:r>
          </a:p>
          <a:p>
            <a:pPr algn="l"/>
            <a:r>
              <a:rPr sz="900">
                <a:solidFill>
                  <a:srgbClr val="1E293B"/>
                </a:solidFill>
                <a:latin typeface="Microsoft JhengHei"/>
              </a:rPr>
              <a:t>• API Gateway (內部 API)</a:t>
            </a:r>
          </a:p>
          <a:p>
            <a:pPr algn="l"/>
            <a:r>
              <a:rPr sz="900">
                <a:solidFill>
                  <a:srgbClr val="1E293B"/>
                </a:solidFill>
                <a:latin typeface="Microsoft JhengHei"/>
              </a:rPr>
              <a:t>• Webhook / Events (事件通知)</a:t>
            </a:r>
          </a:p>
          <a:p>
            <a:pPr algn="l"/>
            <a:r>
              <a:rPr sz="900">
                <a:solidFill>
                  <a:srgbClr val="1E293B"/>
                </a:solidFill>
                <a:latin typeface="Microsoft JhengHei"/>
              </a:rPr>
              <a:t>• CI/CD Hook (部署觸發)</a:t>
            </a:r>
          </a:p>
          <a:p>
            <a:pPr algn="l"/>
            <a:r>
              <a:rPr sz="900">
                <a:solidFill>
                  <a:srgbClr val="1E293B"/>
                </a:solidFill>
                <a:latin typeface="Microsoft JhengHei"/>
              </a:rPr>
              <a:t>• Notification (Email / Slack)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915400" y="685800"/>
            <a:ext cx="2971800" cy="3566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034272" y="749808"/>
            <a:ext cx="26517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1E293B"/>
                </a:solidFill>
                <a:latin typeface="Microsoft JhengHei"/>
              </a:rPr>
              <a:t>7 大著要目的 (MVP 聚焦)</a:t>
            </a:r>
          </a:p>
        </p:txBody>
      </p:sp>
      <p:sp>
        <p:nvSpPr>
          <p:cNvPr id="24" name="Oval 23"/>
          <p:cNvSpPr/>
          <p:nvPr/>
        </p:nvSpPr>
        <p:spPr>
          <a:xfrm>
            <a:off x="9070848" y="1005840"/>
            <a:ext cx="237744" cy="237744"/>
          </a:xfrm>
          <a:prstGeom prst="ellipse">
            <a:avLst/>
          </a:prstGeom>
          <a:solidFill>
            <a:srgbClr val="1E88E5"/>
          </a:solidFill>
          <a:ln>
            <a:solidFill>
              <a:srgbClr val="1E88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700" b="1">
                <a:solidFill>
                  <a:srgbClr val="FFFFFF"/>
                </a:solidFill>
                <a:latin typeface="Calibri"/>
              </a:rPr>
              <a:t>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354312" y="996696"/>
            <a:ext cx="914400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1E293B"/>
                </a:solidFill>
                <a:latin typeface="Microsoft JhengHei"/>
              </a:rPr>
              <a:t>Token / Trace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241280" y="996696"/>
            <a:ext cx="15544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475569"/>
                </a:solidFill>
                <a:latin typeface="Microsoft JhengHei"/>
              </a:rPr>
              <a:t>追蹤每次呼叫與上下文鏈路</a:t>
            </a:r>
          </a:p>
        </p:txBody>
      </p:sp>
      <p:sp>
        <p:nvSpPr>
          <p:cNvPr id="27" name="Oval 26"/>
          <p:cNvSpPr/>
          <p:nvPr/>
        </p:nvSpPr>
        <p:spPr>
          <a:xfrm>
            <a:off x="9070848" y="1435608"/>
            <a:ext cx="237744" cy="237744"/>
          </a:xfrm>
          <a:prstGeom prst="ellipse">
            <a:avLst/>
          </a:prstGeom>
          <a:solidFill>
            <a:srgbClr val="7C3AED"/>
          </a:solidFill>
          <a:ln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700" b="1">
                <a:solidFill>
                  <a:srgbClr val="FFFFFF"/>
                </a:solidFill>
                <a:latin typeface="Calibri"/>
              </a:rPr>
              <a:t>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354312" y="1426464"/>
            <a:ext cx="914400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1E293B"/>
                </a:solidFill>
                <a:latin typeface="Microsoft JhengHei"/>
              </a:rPr>
              <a:t>Evaluation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241280" y="1426464"/>
            <a:ext cx="15544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475569"/>
                </a:solidFill>
                <a:latin typeface="Microsoft JhengHei"/>
              </a:rPr>
              <a:t>LLM Judge 與規則化評測</a:t>
            </a:r>
          </a:p>
        </p:txBody>
      </p:sp>
      <p:sp>
        <p:nvSpPr>
          <p:cNvPr id="30" name="Oval 29"/>
          <p:cNvSpPr/>
          <p:nvPr/>
        </p:nvSpPr>
        <p:spPr>
          <a:xfrm>
            <a:off x="9070848" y="1865376"/>
            <a:ext cx="237744" cy="237744"/>
          </a:xfrm>
          <a:prstGeom prst="ellipse">
            <a:avLst/>
          </a:prstGeom>
          <a:solidFill>
            <a:srgbClr val="2E7D32"/>
          </a:solidFill>
          <a:ln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700" b="1">
                <a:solidFill>
                  <a:srgbClr val="FFFFFF"/>
                </a:solidFill>
                <a:latin typeface="Calibri"/>
              </a:rPr>
              <a:t>$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354312" y="1856232"/>
            <a:ext cx="914400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1E293B"/>
                </a:solidFill>
                <a:latin typeface="Microsoft JhengHei"/>
              </a:rPr>
              <a:t>Cost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241280" y="1856232"/>
            <a:ext cx="15544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475569"/>
                </a:solidFill>
                <a:latin typeface="Microsoft JhengHei"/>
              </a:rPr>
              <a:t>Token 與 $ 成本可見化</a:t>
            </a:r>
          </a:p>
        </p:txBody>
      </p:sp>
      <p:sp>
        <p:nvSpPr>
          <p:cNvPr id="33" name="Oval 32"/>
          <p:cNvSpPr/>
          <p:nvPr/>
        </p:nvSpPr>
        <p:spPr>
          <a:xfrm>
            <a:off x="9070848" y="2295144"/>
            <a:ext cx="237744" cy="237744"/>
          </a:xfrm>
          <a:prstGeom prst="ellipse">
            <a:avLst/>
          </a:prstGeom>
          <a:solidFill>
            <a:srgbClr val="0D9488"/>
          </a:solidFill>
          <a:ln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700" b="1">
                <a:solidFill>
                  <a:srgbClr val="FFFFFF"/>
                </a:solidFill>
                <a:latin typeface="Calibri"/>
              </a:rPr>
              <a:t>Q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354312" y="2286000"/>
            <a:ext cx="914400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1E293B"/>
                </a:solidFill>
                <a:latin typeface="Microsoft JhengHei"/>
              </a:rPr>
              <a:t>Quality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241280" y="2286000"/>
            <a:ext cx="15544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475569"/>
                </a:solidFill>
                <a:latin typeface="Microsoft JhengHei"/>
              </a:rPr>
              <a:t>品質指標與趨勢監控</a:t>
            </a:r>
          </a:p>
        </p:txBody>
      </p:sp>
      <p:sp>
        <p:nvSpPr>
          <p:cNvPr id="36" name="Oval 35"/>
          <p:cNvSpPr/>
          <p:nvPr/>
        </p:nvSpPr>
        <p:spPr>
          <a:xfrm>
            <a:off x="9070848" y="2724912"/>
            <a:ext cx="237744" cy="237744"/>
          </a:xfrm>
          <a:prstGeom prst="ellipse">
            <a:avLst/>
          </a:prstGeom>
          <a:solidFill>
            <a:srgbClr val="EA580C"/>
          </a:solidFill>
          <a:ln>
            <a:solidFill>
              <a:srgbClr val="EA580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700" b="1">
                <a:solidFill>
                  <a:srgbClr val="FFFFFF"/>
                </a:solidFill>
                <a:latin typeface="Calibri"/>
              </a:rPr>
              <a:t>I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354312" y="2715768"/>
            <a:ext cx="914400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1E293B"/>
                </a:solidFill>
                <a:latin typeface="Microsoft JhengHei"/>
              </a:rPr>
              <a:t>Incident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241280" y="2715768"/>
            <a:ext cx="15544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475569"/>
                </a:solidFill>
                <a:latin typeface="Microsoft JhengHei"/>
              </a:rPr>
              <a:t>事件管理與回應流程</a:t>
            </a:r>
          </a:p>
        </p:txBody>
      </p:sp>
      <p:sp>
        <p:nvSpPr>
          <p:cNvPr id="39" name="Oval 38"/>
          <p:cNvSpPr/>
          <p:nvPr/>
        </p:nvSpPr>
        <p:spPr>
          <a:xfrm>
            <a:off x="9070848" y="3154679"/>
            <a:ext cx="237744" cy="237744"/>
          </a:xfrm>
          <a:prstGeom prst="ellipse">
            <a:avLst/>
          </a:prstGeom>
          <a:solidFill>
            <a:srgbClr val="1E88E5"/>
          </a:solidFill>
          <a:ln>
            <a:solidFill>
              <a:srgbClr val="1E88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700" b="1">
                <a:solidFill>
                  <a:srgbClr val="FFFFFF"/>
                </a:solidFill>
                <a:latin typeface="Calibri"/>
              </a:rPr>
              <a:t>F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354312" y="3145536"/>
            <a:ext cx="914400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1E293B"/>
                </a:solidFill>
                <a:latin typeface="Microsoft JhengHei"/>
              </a:rPr>
              <a:t>Feedback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0241280" y="3145536"/>
            <a:ext cx="15544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475569"/>
                </a:solidFill>
                <a:latin typeface="Microsoft JhengHei"/>
              </a:rPr>
              <a:t>回饋蒐集、分類與閉環</a:t>
            </a:r>
          </a:p>
        </p:txBody>
      </p:sp>
      <p:sp>
        <p:nvSpPr>
          <p:cNvPr id="42" name="Oval 41"/>
          <p:cNvSpPr/>
          <p:nvPr/>
        </p:nvSpPr>
        <p:spPr>
          <a:xfrm>
            <a:off x="9070848" y="3584448"/>
            <a:ext cx="237744" cy="237744"/>
          </a:xfrm>
          <a:prstGeom prst="ellipse">
            <a:avLst/>
          </a:prstGeom>
          <a:solidFill>
            <a:srgbClr val="7C3AED"/>
          </a:solidFill>
          <a:ln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700" b="1">
                <a:solidFill>
                  <a:srgbClr val="FFFFFF"/>
                </a:solidFill>
                <a:latin typeface="Calibri"/>
              </a:rPr>
              <a:t>R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354312" y="3575304"/>
            <a:ext cx="914400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1E293B"/>
                </a:solidFill>
                <a:latin typeface="Microsoft JhengHei"/>
              </a:rPr>
              <a:t>Risk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0241280" y="3575304"/>
            <a:ext cx="15544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475569"/>
                </a:solidFill>
                <a:latin typeface="Microsoft JhengHei"/>
              </a:rPr>
              <a:t>風險檢測與告警機制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274320" y="4370832"/>
            <a:ext cx="11612880" cy="148132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384048" y="4425696"/>
            <a:ext cx="29260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1E293B"/>
                </a:solidFill>
                <a:latin typeface="Microsoft JhengHei"/>
              </a:rPr>
              <a:t>分期實施計畫 (最小可行路線圖)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384048" y="4645152"/>
            <a:ext cx="2697480" cy="1097280"/>
          </a:xfrm>
          <a:prstGeom prst="roundRect">
            <a:avLst/>
          </a:prstGeom>
          <a:solidFill>
            <a:srgbClr val="E3F2FD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sz="720"/>
              <a:t>Q1：可觀測 (See)</a:t>
            </a:r>
          </a:p>
          <a:p>
            <a:r>
              <a:rPr sz="612"/>
              <a:t>建立可觀測與成本基礎能力</a:t>
            </a:r>
          </a:p>
          <a:p>
            <a:r>
              <a:rPr sz="540"/>
              <a:t>• 接入 OpenTelemetry、Trace Collector 與 Trace Store</a:t>
            </a:r>
          </a:p>
          <a:p>
            <a:r>
              <a:rPr sz="540"/>
              <a:t>• Token / Cost 追蹤</a:t>
            </a:r>
          </a:p>
          <a:p>
            <a:r>
              <a:rPr sz="540"/>
              <a:t>• 基礎 Dashboard (Trace / Cost)</a:t>
            </a:r>
          </a:p>
        </p:txBody>
      </p:sp>
      <p:sp>
        <p:nvSpPr>
          <p:cNvPr id="48" name="Right Arrow 47"/>
          <p:cNvSpPr/>
          <p:nvPr/>
        </p:nvSpPr>
        <p:spPr>
          <a:xfrm>
            <a:off x="3108960" y="5065776"/>
            <a:ext cx="109728" cy="146304"/>
          </a:xfrm>
          <a:prstGeom prst="rightArrow">
            <a:avLst/>
          </a:prstGeom>
          <a:solidFill>
            <a:srgbClr val="1E88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ounded Rectangle 48"/>
          <p:cNvSpPr/>
          <p:nvPr/>
        </p:nvSpPr>
        <p:spPr>
          <a:xfrm>
            <a:off x="3236976" y="4645152"/>
            <a:ext cx="26974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sz="720"/>
              <a:t>Q2：評估與品質 (Measure)</a:t>
            </a:r>
          </a:p>
          <a:p>
            <a:r>
              <a:rPr sz="612"/>
              <a:t>建立評估與品質衡量指標</a:t>
            </a:r>
          </a:p>
          <a:p>
            <a:r>
              <a:rPr sz="540"/>
              <a:t>• Evaluation Engine (LLM Judge / Rule)</a:t>
            </a:r>
          </a:p>
          <a:p>
            <a:r>
              <a:rPr sz="540"/>
              <a:t>• Dataset 管理</a:t>
            </a:r>
          </a:p>
          <a:p>
            <a:r>
              <a:rPr sz="540"/>
              <a:t>• Quality Dashboard (品質指標)、Evaluation API</a:t>
            </a:r>
          </a:p>
        </p:txBody>
      </p:sp>
      <p:sp>
        <p:nvSpPr>
          <p:cNvPr id="50" name="Right Arrow 49"/>
          <p:cNvSpPr/>
          <p:nvPr/>
        </p:nvSpPr>
        <p:spPr>
          <a:xfrm>
            <a:off x="5961888" y="5065776"/>
            <a:ext cx="109728" cy="146304"/>
          </a:xfrm>
          <a:prstGeom prst="rightArrow">
            <a:avLst/>
          </a:prstGeom>
          <a:solidFill>
            <a:srgbClr val="1E88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ounded Rectangle 50"/>
          <p:cNvSpPr/>
          <p:nvPr/>
        </p:nvSpPr>
        <p:spPr>
          <a:xfrm>
            <a:off x="6089904" y="4645152"/>
            <a:ext cx="2697480" cy="1097280"/>
          </a:xfrm>
          <a:prstGeom prst="roundRect">
            <a:avLst/>
          </a:prstGeom>
          <a:solidFill>
            <a:srgbClr val="E3F2FD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sz="720"/>
              <a:t>Q3：事件與回饋 (React)</a:t>
            </a:r>
          </a:p>
          <a:p>
            <a:r>
              <a:rPr sz="612"/>
              <a:t>建立事件與使用者回饋閉環機制</a:t>
            </a:r>
          </a:p>
          <a:p>
            <a:r>
              <a:rPr sz="540"/>
              <a:t>• Incident Center (事件管理)</a:t>
            </a:r>
          </a:p>
          <a:p>
            <a:r>
              <a:rPr sz="540"/>
              <a:t>• Feedback Collector (回饋收集)</a:t>
            </a:r>
          </a:p>
          <a:p>
            <a:r>
              <a:rPr sz="540"/>
              <a:t>• Risk Detector (風險檢測)</a:t>
            </a:r>
          </a:p>
          <a:p>
            <a:r>
              <a:rPr sz="540"/>
              <a:t>• 告警與通知機制</a:t>
            </a:r>
          </a:p>
        </p:txBody>
      </p:sp>
      <p:sp>
        <p:nvSpPr>
          <p:cNvPr id="52" name="Right Arrow 51"/>
          <p:cNvSpPr/>
          <p:nvPr/>
        </p:nvSpPr>
        <p:spPr>
          <a:xfrm>
            <a:off x="8814816" y="5065776"/>
            <a:ext cx="109728" cy="146304"/>
          </a:xfrm>
          <a:prstGeom prst="rightArrow">
            <a:avLst/>
          </a:prstGeom>
          <a:solidFill>
            <a:srgbClr val="1E88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ounded Rectangle 52"/>
          <p:cNvSpPr/>
          <p:nvPr/>
        </p:nvSpPr>
        <p:spPr>
          <a:xfrm>
            <a:off x="8942832" y="4645152"/>
            <a:ext cx="26974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sz="720"/>
              <a:t>Q4：治理與自動化 (Control)</a:t>
            </a:r>
          </a:p>
          <a:p>
            <a:r>
              <a:rPr sz="612"/>
              <a:t>強化治理、發布與自動化能力</a:t>
            </a:r>
          </a:p>
          <a:p>
            <a:r>
              <a:rPr sz="540"/>
              <a:t>• Agent / Prompt / Tool 全量管理</a:t>
            </a:r>
          </a:p>
          <a:p>
            <a:r>
              <a:rPr sz="540"/>
              <a:t>• Policy &amp; Guardrails 強化</a:t>
            </a:r>
          </a:p>
          <a:p>
            <a:r>
              <a:rPr sz="540"/>
              <a:t>• CI/CD Integration</a:t>
            </a:r>
          </a:p>
          <a:p>
            <a:r>
              <a:rPr sz="540"/>
              <a:t>• 報表與稽核 (Audit)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274320" y="5943600"/>
            <a:ext cx="11612880" cy="71323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384048" y="5998464"/>
            <a:ext cx="25603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1E293B"/>
                </a:solidFill>
                <a:latin typeface="Microsoft JhengHei"/>
              </a:rPr>
              <a:t>技術基礎建議 (可彈性替換)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2697480" y="5998464"/>
            <a:ext cx="7680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E293B"/>
                </a:solidFill>
                <a:latin typeface="Microsoft JhengHei"/>
              </a:rPr>
              <a:t>OpenTelemetry｜PostgreSQL｜Redis｜S3 / Blob｜Chroma / pgvector｜FastAPI｜Langfuse｜Phoenix｜Grafana｜Prometheus｜Docker / K8s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10515600" y="5998464"/>
            <a:ext cx="1371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475569"/>
                </a:solidFill>
                <a:latin typeface="Microsoft JhengHei"/>
              </a:rPr>
              <a:t>備註：可依企業規範替換</a:t>
            </a:r>
          </a:p>
        </p:txBody>
      </p:sp>
      <p:cxnSp>
        <p:nvCxnSpPr>
          <p:cNvPr id="58" name="Connector 57"/>
          <p:cNvCxnSpPr/>
          <p:nvPr/>
        </p:nvCxnSpPr>
        <p:spPr>
          <a:xfrm>
            <a:off x="3127248" y="1417320"/>
            <a:ext cx="237744" cy="0"/>
          </a:xfrm>
          <a:prstGeom prst="line">
            <a:avLst/>
          </a:prstGeom>
          <a:ln w="9144">
            <a:solidFill>
              <a:srgbClr val="1E88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" name="Connector 58"/>
          <p:cNvCxnSpPr/>
          <p:nvPr/>
        </p:nvCxnSpPr>
        <p:spPr>
          <a:xfrm>
            <a:off x="8741664" y="2377440"/>
            <a:ext cx="155448" cy="0"/>
          </a:xfrm>
          <a:prstGeom prst="line">
            <a:avLst/>
          </a:prstGeom>
          <a:ln w="9144">
            <a:solidFill>
              <a:srgbClr val="1E88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