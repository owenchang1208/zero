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Microsoft JhengHei"/>
              </a:rPr>
              <a:t>AegisOps 最小可實作架構 (MVP) &amp; 分期實施計畫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8404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Microsoft JhengHei"/>
              </a:rPr>
              <a:t>企業級 AgentOps 架構藍圖（完全可編輯重繪版）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21040" y="109728"/>
            <a:ext cx="3657600" cy="384048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目標：先可觀測，再可評估，最後可治理與自動化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685800"/>
            <a:ext cx="28803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74980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Microsoft JhengHei"/>
              </a:rPr>
              <a:t>Agent Runtime (執行層)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Microsoft JhengHei"/>
              </a:rPr>
              <a:t>• LangGraph</a:t>
            </a:r>
            <a:br/>
            <a:r>
              <a:t>• OpenAI Agents SDK</a:t>
            </a:r>
            <a:br/>
            <a:r>
              <a:t>• Dify / 其他 Agent 框架</a:t>
            </a:r>
            <a:br/>
            <a:r>
              <a:t>• MCP / Tool / API</a:t>
            </a:r>
            <a:br/>
            <a:br/>
            <a:r>
              <a:t>外部系統 / 資料源</a:t>
            </a:r>
            <a:br/>
            <a:r>
              <a:t>• 企業資料庫</a:t>
            </a:r>
            <a:br/>
            <a:r>
              <a:t>• 向量資料庫</a:t>
            </a:r>
            <a:br/>
            <a:r>
              <a:t>• 外部 API / 服務</a:t>
            </a:r>
            <a:br/>
            <a:r>
              <a:t>• 檔案 / 文件 /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685800"/>
            <a:ext cx="53492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7498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Microsoft JhengHei"/>
              </a:rPr>
              <a:t>使用者 / 存取入口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Web 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68696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內部人員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開發人員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04888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營運 / 維運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2983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管理者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1280160"/>
            <a:ext cx="534924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900"/>
              <a:t>AegisOps 最小可實作架構 (MVP)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1664208"/>
            <a:ext cx="2514600" cy="85039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1. 核心控制層 (Control Plane)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Agent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Prompt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Model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Tool / MCP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Policy &amp; Guardrails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RBAC / IAM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664208"/>
            <a:ext cx="2514600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2. 觀測與成本 (Observability &amp; Cost)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Trace Collector (OpenTelemetry)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Token / Trace Store (Traces / Spans)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Metrics Store (Metrics)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Cost Tracker (Token &amp; $)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2587752"/>
            <a:ext cx="2514600" cy="85039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3. 評估與品質 (Evaluation &amp; Quality)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Evaluation Engine (LLM Judge / Rule)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Quality Dashboard (品質指標)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Dataset Store (Eval Dataset)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2587752"/>
            <a:ext cx="2514600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4. 事件・回饋與風險 (Incident / Feedback / Risk)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Incident Center (事件管理)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Feedback Collector (使用者回饋)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Risk Detector (風險檢測)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3511296"/>
            <a:ext cx="2514600" cy="85039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5. 資料儲存層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PostgreSQL (Meta / 統計資料)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S3 / Blob Storage (檔案 / Prompt / Dataset / Log)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Vector DB (向量 / 知識庫)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Cache (Redis)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511296"/>
            <a:ext cx="2514600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6. 整合與交付層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API Gateway (內部 API)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Webhook / Events (事件通知)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CI/CD Hook (部署觸發)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Notification (Email / Slack)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685800"/>
            <a:ext cx="297180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74980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Microsoft JhengHei"/>
              </a:rPr>
              <a:t>7 大著要目的 (MVP 聚焦)</a:t>
            </a:r>
          </a:p>
        </p:txBody>
      </p:sp>
      <p:sp>
        <p:nvSpPr>
          <p:cNvPr id="24" name="Oval 23"/>
          <p:cNvSpPr/>
          <p:nvPr/>
        </p:nvSpPr>
        <p:spPr>
          <a:xfrm>
            <a:off x="9070848" y="1005840"/>
            <a:ext cx="237744" cy="237744"/>
          </a:xfrm>
          <a:prstGeom prst="ellipse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996696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Token / Trace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996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追蹤每次呼叫與上下文鏈路</a:t>
            </a:r>
          </a:p>
        </p:txBody>
      </p:sp>
      <p:sp>
        <p:nvSpPr>
          <p:cNvPr id="27" name="Oval 26"/>
          <p:cNvSpPr/>
          <p:nvPr/>
        </p:nvSpPr>
        <p:spPr>
          <a:xfrm>
            <a:off x="9070848" y="1435608"/>
            <a:ext cx="237744" cy="23774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26464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42646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LLM Judge 與規則化評測</a:t>
            </a:r>
          </a:p>
        </p:txBody>
      </p:sp>
      <p:sp>
        <p:nvSpPr>
          <p:cNvPr id="30" name="Oval 29"/>
          <p:cNvSpPr/>
          <p:nvPr/>
        </p:nvSpPr>
        <p:spPr>
          <a:xfrm>
            <a:off x="9070848" y="1865376"/>
            <a:ext cx="237744" cy="237744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2" y="1856232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18562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Token 與 $ 成本可見化</a:t>
            </a:r>
          </a:p>
        </p:txBody>
      </p:sp>
      <p:sp>
        <p:nvSpPr>
          <p:cNvPr id="33" name="Oval 32"/>
          <p:cNvSpPr/>
          <p:nvPr/>
        </p:nvSpPr>
        <p:spPr>
          <a:xfrm>
            <a:off x="9070848" y="2295144"/>
            <a:ext cx="237744" cy="237744"/>
          </a:xfrm>
          <a:prstGeom prst="ellipse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2286000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Quality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228600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品質指標與趨勢監控</a:t>
            </a:r>
          </a:p>
        </p:txBody>
      </p:sp>
      <p:sp>
        <p:nvSpPr>
          <p:cNvPr id="36" name="Oval 35"/>
          <p:cNvSpPr/>
          <p:nvPr/>
        </p:nvSpPr>
        <p:spPr>
          <a:xfrm>
            <a:off x="9070848" y="2724912"/>
            <a:ext cx="237744" cy="237744"/>
          </a:xfrm>
          <a:prstGeom prst="ellipse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2" y="2715768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Incident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271576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事件管理與回應流程</a:t>
            </a:r>
          </a:p>
        </p:txBody>
      </p:sp>
      <p:sp>
        <p:nvSpPr>
          <p:cNvPr id="39" name="Oval 38"/>
          <p:cNvSpPr/>
          <p:nvPr/>
        </p:nvSpPr>
        <p:spPr>
          <a:xfrm>
            <a:off x="9070848" y="3154679"/>
            <a:ext cx="237744" cy="237744"/>
          </a:xfrm>
          <a:prstGeom prst="ellipse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3145536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Feedback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31455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回饋蒐集、分類與閉環</a:t>
            </a:r>
          </a:p>
        </p:txBody>
      </p:sp>
      <p:sp>
        <p:nvSpPr>
          <p:cNvPr id="42" name="Oval 41"/>
          <p:cNvSpPr/>
          <p:nvPr/>
        </p:nvSpPr>
        <p:spPr>
          <a:xfrm>
            <a:off x="9070848" y="3584448"/>
            <a:ext cx="237744" cy="23774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54312" y="3575304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Risk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357530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風險檢測與告警機制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4370832"/>
            <a:ext cx="1161288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" y="44256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Microsoft JhengHei"/>
              </a:rPr>
              <a:t>分期實施計畫 (最小可行路線圖)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4048" y="4645152"/>
            <a:ext cx="2697480" cy="10972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Q1：可觀測 (See)</a:t>
            </a:r>
          </a:p>
          <a:p>
            <a:r>
              <a:rPr sz="600"/>
              <a:t>建立可觀測與成本基礎能力</a:t>
            </a:r>
          </a:p>
          <a:p>
            <a:r>
              <a:rPr sz="550"/>
              <a:t>• 接入 OpenTelemetry、Trace Collector 與 Trace Store</a:t>
            </a:r>
          </a:p>
          <a:p>
            <a:r>
              <a:rPr sz="550"/>
              <a:t>• Token / Cost 追蹤</a:t>
            </a:r>
          </a:p>
          <a:p>
            <a:r>
              <a:rPr sz="550"/>
              <a:t>• 基礎 Dashboard (Trace / Cost)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3108960" y="5065776"/>
            <a:ext cx="109728" cy="146304"/>
          </a:xfrm>
          <a:prstGeom prst="rightArrow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236976" y="4645152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Q2：評估與品質 (Measure)</a:t>
            </a:r>
          </a:p>
          <a:p>
            <a:r>
              <a:rPr sz="600"/>
              <a:t>建立評估與品質衡量指標</a:t>
            </a:r>
          </a:p>
          <a:p>
            <a:r>
              <a:rPr sz="550"/>
              <a:t>• Evaluation Engine (LLM Judge / Rule)</a:t>
            </a:r>
          </a:p>
          <a:p>
            <a:r>
              <a:rPr sz="550"/>
              <a:t>• Dataset 管理</a:t>
            </a:r>
          </a:p>
          <a:p>
            <a:r>
              <a:rPr sz="550"/>
              <a:t>• Quality Dashboard (品質指標)、Evaluation API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5961888" y="5065776"/>
            <a:ext cx="109728" cy="146304"/>
          </a:xfrm>
          <a:prstGeom prst="rightArrow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089904" y="4645152"/>
            <a:ext cx="2697480" cy="10972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Q3：事件與回饋 (React)</a:t>
            </a:r>
          </a:p>
          <a:p>
            <a:r>
              <a:rPr sz="600"/>
              <a:t>建立事件與使用者回饋閉環機制</a:t>
            </a:r>
          </a:p>
          <a:p>
            <a:r>
              <a:rPr sz="550"/>
              <a:t>• Incident Center (事件管理)</a:t>
            </a:r>
          </a:p>
          <a:p>
            <a:r>
              <a:rPr sz="550"/>
              <a:t>• Feedback Collector (回饋收集)</a:t>
            </a:r>
          </a:p>
          <a:p>
            <a:r>
              <a:rPr sz="550"/>
              <a:t>• Risk Detector (風險檢測)</a:t>
            </a:r>
          </a:p>
          <a:p>
            <a:r>
              <a:rPr sz="550"/>
              <a:t>• 告警與通知機制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8814816" y="5065776"/>
            <a:ext cx="109728" cy="146304"/>
          </a:xfrm>
          <a:prstGeom prst="rightArrow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42832" y="4645152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Q4：治理與自動化 (Control)</a:t>
            </a:r>
          </a:p>
          <a:p>
            <a:r>
              <a:rPr sz="600"/>
              <a:t>強化治理、發布與自動化能力</a:t>
            </a:r>
          </a:p>
          <a:p>
            <a:r>
              <a:rPr sz="550"/>
              <a:t>• Agent / Prompt / Tool 全量管理</a:t>
            </a:r>
          </a:p>
          <a:p>
            <a:r>
              <a:rPr sz="550"/>
              <a:t>• Policy &amp; Guardrails 強化</a:t>
            </a:r>
          </a:p>
          <a:p>
            <a:r>
              <a:rPr sz="550"/>
              <a:t>• CI/CD Integration</a:t>
            </a:r>
          </a:p>
          <a:p>
            <a:r>
              <a:rPr sz="550"/>
              <a:t>• 報表與稽核 (Audit)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5943600"/>
            <a:ext cx="11612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048" y="59984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Microsoft JhengHei"/>
              </a:rPr>
              <a:t>技術基礎建議 (可彈性替換)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97480" y="5998464"/>
            <a:ext cx="7680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E293B"/>
                </a:solidFill>
                <a:latin typeface="Microsoft JhengHei"/>
              </a:rPr>
              <a:t>OpenTelemetry｜PostgreSQL｜Redis｜S3 / Blob｜Chroma / pgvector｜FastAPI｜Langfuse｜Phoenix｜Grafana｜Prometheus｜Docker / K8s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599846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備註：可依企業規範替換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127248" y="1417320"/>
            <a:ext cx="237744" cy="0"/>
          </a:xfrm>
          <a:prstGeom prst="line">
            <a:avLst/>
          </a:prstGeom>
          <a:ln w="9144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741664" y="2377440"/>
            <a:ext cx="155448" cy="0"/>
          </a:xfrm>
          <a:prstGeom prst="line">
            <a:avLst/>
          </a:prstGeom>
          <a:ln w="9144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